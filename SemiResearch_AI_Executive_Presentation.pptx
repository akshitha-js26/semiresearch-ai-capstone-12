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4C4B8"/>
                </a:solidFill>
                <a:latin typeface="Aptos"/>
              </a:rPr>
              <a:t>SEMIRESEARCH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7FA"/>
                </a:solidFill>
                <a:latin typeface="Aptos"/>
              </a:rPr>
              <a:t>India’s Semiconductor Mission</a:t>
            </a:r>
            <a:br/>
            <a:r>
              <a:rPr sz="2800" b="1">
                <a:solidFill>
                  <a:srgbClr val="F2F7FA"/>
                </a:solidFill>
                <a:latin typeface="Aptos"/>
              </a:rPr>
              <a:t>and the Growth of India’s Chip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ADBEC9"/>
                </a:solidFill>
                <a:latin typeface="Aptos"/>
              </a:rPr>
              <a:t>AI Research Report — VAC Capstone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2F7FA"/>
                </a:solidFill>
                <a:latin typeface="Aptos"/>
              </a:rPr>
              <a:t>Research → Compare → Verify → Synthesize →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Research Questions &amp; Multi-AI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RQ1  Objectives, policies and incentives of ISM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RQ2  Manufacturing, packaging, testing and design projects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RQ3  Opportunities, challenges and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2F7FA"/>
                </a:solidFill>
              </a:defRPr>
            </a:pPr>
            <a:r>
              <a:t>Perplexity — independent research</a:t>
            </a:r>
          </a:p>
          <a:p>
            <a:pPr>
              <a:spcAft>
                <a:spcPts val="1200"/>
              </a:spcAft>
              <a:defRPr sz="1600">
                <a:solidFill>
                  <a:srgbClr val="F2F7FA"/>
                </a:solidFill>
              </a:defRPr>
            </a:pPr>
            <a:r>
              <a:t>Gemini — independent research</a:t>
            </a:r>
          </a:p>
          <a:p>
            <a:pPr>
              <a:spcAft>
                <a:spcPts val="1200"/>
              </a:spcAft>
              <a:defRPr sz="1600">
                <a:solidFill>
                  <a:srgbClr val="F2F7FA"/>
                </a:solidFill>
              </a:defRPr>
            </a:pPr>
            <a:r>
              <a:t>NotebookLM — official-source grounding</a:t>
            </a:r>
          </a:p>
          <a:p>
            <a:pPr>
              <a:spcAft>
                <a:spcPts val="1200"/>
              </a:spcAft>
              <a:defRPr sz="1600">
                <a:solidFill>
                  <a:srgbClr val="F2F7FA"/>
                </a:solidFill>
              </a:defRPr>
            </a:pPr>
            <a:r>
              <a:t>ChatGPT — prompts, comparison, synthesis</a:t>
            </a:r>
          </a:p>
          <a:p>
            <a:pPr>
              <a:spcAft>
                <a:spcPts val="1200"/>
              </a:spcAft>
              <a:defRPr sz="1600">
                <a:solidFill>
                  <a:srgbClr val="F2F7FA"/>
                </a:solidFill>
              </a:defRPr>
            </a:pPr>
            <a:r>
              <a:t>Official sources + human review — final factual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Key Verified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₹76,000 Cr — Semicon India Programme 1.0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₹1,27,500 Cr — Semicon 2.0; approved 15 Jul 2026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12 approved manufacturing proposals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&gt;₹1.64 lakh Cr approved investment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1 silicon fab + 2 compound fabs + 9 packaging projects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24 design projects; 23 tape-outs; ~70k trained</a:t>
            </a:r>
          </a:p>
        </p:txBody>
      </p:sp>
      <p:pic>
        <p:nvPicPr>
          <p:cNvPr id="6" name="Picture 5" descr="SemiResearch_AI_Visual_1_Approved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846320" cy="2883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From Approval to Commercial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miResearch_AI_Visual_2_Produc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577840" cy="3458457"/>
          </a:xfrm>
          <a:prstGeom prst="rect">
            <a:avLst/>
          </a:prstGeom>
        </p:spPr>
      </p:pic>
      <p:pic>
        <p:nvPicPr>
          <p:cNvPr id="6" name="Picture 5" descr="SemiResearch_AI_Visual_3_Projec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08760"/>
            <a:ext cx="4983480" cy="2917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4C4B8"/>
                </a:solidFill>
                <a:latin typeface="Aptos"/>
              </a:rPr>
              <a:t>Identified commercial/operational units increased from 1 in February to 5 by September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AI Verification &amp; Hallucination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Suchi / CDIL: earlier “approved” status → updated to commercial lines (17 Sep 2026)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3 operational vs 5 operational → time-sensitive update, not hallucination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3D Glass: ~₹1,500 Cr → corrected to ₹1,943 Cr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SiCSem: “not public” → official ₹2,066 Cr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Tata Dholera late-2026 production target → excluded as not sufficiently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4C4B8"/>
                </a:solidFill>
                <a:latin typeface="Aptos"/>
              </a:rPr>
              <a:t>AI claim → Compare → Official source → Classify → Correct / Remove → Human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Opportunities, Risks &amp; Responsible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OPPORTUNITIES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Domestic electronics demand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Strong design talent base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Global supply-chain diversification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Packaging / ATMP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RISKS / LIMITATIONS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Capital and infrastructure intensity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Specialist manufacturing talent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Supply-chain dependencies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Fast-changing project status</a:t>
            </a:r>
          </a:p>
          <a:p>
            <a:pPr>
              <a:spcAft>
                <a:spcPts val="1200"/>
              </a:spcAft>
              <a:defRPr sz="1700">
                <a:solidFill>
                  <a:srgbClr val="F2F7FA"/>
                </a:solidFill>
              </a:defRPr>
            </a:pPr>
            <a:r>
              <a:t>• AI can be outdated or unsupported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4C4B8"/>
                </a:solidFill>
                <a:latin typeface="Aptos"/>
              </a:rPr>
              <a:t>Verify → Compare → Correct → Cite → Human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C4B8"/>
                </a:solidFill>
                <a:latin typeface="Aptos"/>
              </a:rP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2F7FA"/>
                </a:solidFill>
                <a:latin typeface="Aptos"/>
              </a:rPr>
              <a:t>Conclusion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05840" cy="45720"/>
          </a:xfrm>
          <a:prstGeom prst="rect">
            <a:avLst/>
          </a:prstGeom>
          <a:solidFill>
            <a:srgbClr val="24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2F7FA"/>
                </a:solidFill>
              </a:defRPr>
            </a:pPr>
            <a:r>
              <a:t>India has moved from policy commitments toward measurable commercial semiconductor activity.</a:t>
            </a:r>
          </a:p>
          <a:p>
            <a:pPr>
              <a:spcAft>
                <a:spcPts val="1200"/>
              </a:spcAft>
              <a:defRPr sz="1800">
                <a:solidFill>
                  <a:srgbClr val="F2F7FA"/>
                </a:solidFill>
              </a:defRPr>
            </a:pPr>
            <a:r>
              <a:t>Packaging / ATMP / OSAT dominates the current approved portfolio while major wafer-fab capacity continues to develop.</a:t>
            </a:r>
          </a:p>
          <a:p>
            <a:pPr>
              <a:spcAft>
                <a:spcPts val="1200"/>
              </a:spcAft>
              <a:defRPr sz="1800">
                <a:solidFill>
                  <a:srgbClr val="F2F7FA"/>
                </a:solidFill>
              </a:defRPr>
            </a:pPr>
            <a:r>
              <a:t>Multi-AI research becomes more reliable only when claims are dated, cross-checked and verified against original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4C4B8"/>
                </a:solidFill>
                <a:latin typeface="Aptos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2F7FA"/>
                </a:solidFill>
                <a:latin typeface="Aptos"/>
              </a:rPr>
              <a:t>Dashboard → Research Questions → AI Comparison → Verification → Error Log → Visuals → Final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